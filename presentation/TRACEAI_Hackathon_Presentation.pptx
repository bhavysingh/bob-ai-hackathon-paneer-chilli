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503920" y="1371600"/>
            <a:ext cx="1645920" cy="822960"/>
          </a:xfrm>
          <a:prstGeom prst="line">
            <a:avLst/>
          </a:prstGeom>
          <a:ln w="25400">
            <a:solidFill>
              <a:srgbClr val="2B4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9326880" y="2194560"/>
            <a:ext cx="822960" cy="1554479"/>
          </a:xfrm>
          <a:prstGeom prst="line">
            <a:avLst/>
          </a:prstGeom>
          <a:ln w="25400">
            <a:solidFill>
              <a:srgbClr val="2B4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8138160" y="3108960"/>
            <a:ext cx="1188720" cy="640079"/>
          </a:xfrm>
          <a:prstGeom prst="line">
            <a:avLst/>
          </a:prstGeom>
          <a:ln w="25400">
            <a:solidFill>
              <a:srgbClr val="2B4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138160" y="1371600"/>
            <a:ext cx="365760" cy="1737360"/>
          </a:xfrm>
          <a:prstGeom prst="line">
            <a:avLst/>
          </a:prstGeom>
          <a:ln w="25400">
            <a:solidFill>
              <a:srgbClr val="2B4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38160" y="3108960"/>
            <a:ext cx="2651760" cy="1645920"/>
          </a:xfrm>
          <a:prstGeom prst="line">
            <a:avLst/>
          </a:prstGeom>
          <a:ln w="25400">
            <a:solidFill>
              <a:srgbClr val="2B4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366760" y="1234440"/>
            <a:ext cx="256032" cy="256032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12680" y="2057400"/>
            <a:ext cx="256032" cy="25603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89720" y="3611880"/>
            <a:ext cx="256032" cy="256032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01000" y="2971800"/>
            <a:ext cx="256032" cy="256032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52760" y="4617720"/>
            <a:ext cx="256032" cy="25603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43000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Aptos"/>
              </a:rPr>
              <a:t>TRACEAI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65960"/>
            <a:ext cx="5943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E2E8F0"/>
                </a:solidFill>
                <a:latin typeface="Aptos"/>
              </a:rPr>
              <a:t>AI-Powered Missing Person
Investigation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401568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IBM Bob × NFSU Hackathon • Problem Statement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977639"/>
            <a:ext cx="5852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Aptos"/>
              </a:rPr>
              <a:t>Turning scattered case information into structured, explainable investigative leads.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074920"/>
            <a:ext cx="2057400" cy="47548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02936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CASE COORDINATION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9788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Prototype • Mock investigation data • Human verification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Problem Statement 07 — Missing Person Investigation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91640"/>
            <a:ext cx="3520440" cy="3611880"/>
          </a:xfrm>
          <a:prstGeom prst="roundRect">
            <a:avLst/>
          </a:prstGeom>
          <a:solidFill>
            <a:srgbClr val="111F37"/>
          </a:solidFill>
          <a:ln>
            <a:solidFill>
              <a:srgbClr val="25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4864" cy="3611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31363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Fragmented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21992"/>
            <a:ext cx="3136392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Family-provided details, investigator tips and CCTV sighting descriptions can exist as separate inputs. The challenge is to correlate them into a coherent case picture.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3611880"/>
          </a:xfrm>
          <a:prstGeom prst="roundRect">
            <a:avLst/>
          </a:prstGeom>
          <a:solidFill>
            <a:srgbClr val="111F37"/>
          </a:solidFill>
          <a:ln>
            <a:solidFill>
              <a:srgbClr val="25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54864" cy="36118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56232"/>
            <a:ext cx="31363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Time-sensitive coordination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21992"/>
            <a:ext cx="3136392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Investigators need a structured view of what happened, where a sighting occurred, how it relates to the case, and which leads deserve review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520440" cy="3611880"/>
          </a:xfrm>
          <a:prstGeom prst="roundRect">
            <a:avLst/>
          </a:prstGeom>
          <a:solidFill>
            <a:srgbClr val="111F37"/>
          </a:solidFill>
          <a:ln>
            <a:solidFill>
              <a:srgbClr val="25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54864" cy="361188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856232"/>
            <a:ext cx="31363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Required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221992"/>
            <a:ext cx="3136392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The hackathon asks for prioritized investigative leads, recommended next actions, a public appeal notice, and an auto-filled missing-person case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50992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Source: IBM Bob × NFSU Hackathon problem statement, Track 3 — Social Impact.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Our Solution — TRACEAI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A single case workspace for structured investigation support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40080" y="1874519"/>
            <a:ext cx="548640" cy="5486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39112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960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Create case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2148840"/>
            <a:ext cx="1234440" cy="0"/>
          </a:xfrm>
          <a:prstGeom prst="line">
            <a:avLst/>
          </a:prstGeom>
          <a:ln w="25400">
            <a:solidFill>
              <a:srgbClr val="3D5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880360" y="1874519"/>
            <a:ext cx="548640" cy="54864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039112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578608"/>
            <a:ext cx="960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Collect inputs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2148840"/>
            <a:ext cx="1234440" cy="0"/>
          </a:xfrm>
          <a:prstGeom prst="line">
            <a:avLst/>
          </a:prstGeom>
          <a:ln w="25400">
            <a:solidFill>
              <a:srgbClr val="3D5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120640" y="1874519"/>
            <a:ext cx="548640" cy="54864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2039112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78608"/>
            <a:ext cx="960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Correlate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2148840"/>
            <a:ext cx="1234440" cy="0"/>
          </a:xfrm>
          <a:prstGeom prst="line">
            <a:avLst/>
          </a:prstGeom>
          <a:ln w="25400">
            <a:solidFill>
              <a:srgbClr val="3D5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60920" y="1874519"/>
            <a:ext cx="548640" cy="54864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2039112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578608"/>
            <a:ext cx="960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Prioritize leads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80" y="2148840"/>
            <a:ext cx="1234440" cy="0"/>
          </a:xfrm>
          <a:prstGeom prst="line">
            <a:avLst/>
          </a:prstGeom>
          <a:ln w="25400">
            <a:solidFill>
              <a:srgbClr val="3D52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601200" y="1874519"/>
            <a:ext cx="548640" cy="54864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2039112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578608"/>
            <a:ext cx="960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Generate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657600"/>
            <a:ext cx="10332720" cy="1234440"/>
          </a:xfrm>
          <a:prstGeom prst="roundRect">
            <a:avLst/>
          </a:prstGeom>
          <a:solidFill>
            <a:srgbClr val="172946"/>
          </a:solidFill>
          <a:ln>
            <a:solidFill>
              <a:srgbClr val="304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91363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Aptos"/>
              </a:rPr>
              <a:t>Core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822191"/>
            <a:ext cx="8412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Combine family information + investigator tips + CCTV descriptions → explainable lead prioritization → recommended next actions → public appeal + case file.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How a case moves through TRACEAI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645920"/>
            <a:ext cx="3063240" cy="914400"/>
          </a:xfrm>
          <a:prstGeom prst="roundRect">
            <a:avLst/>
          </a:prstGeom>
          <a:solidFill>
            <a:srgbClr val="111F3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Family
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3063240" cy="914400"/>
          </a:xfrm>
          <a:prstGeom prst="roundRect">
            <a:avLst/>
          </a:prstGeom>
          <a:solidFill>
            <a:srgbClr val="111F37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874519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Investigator
Tips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645920"/>
            <a:ext cx="3063240" cy="914400"/>
          </a:xfrm>
          <a:prstGeom prst="roundRect">
            <a:avLst/>
          </a:prstGeom>
          <a:solidFill>
            <a:srgbClr val="111F3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874519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CCTV
Sightings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2560320"/>
            <a:ext cx="3749040" cy="685800"/>
          </a:xfrm>
          <a:prstGeom prst="line">
            <a:avLst/>
          </a:prstGeom>
          <a:ln w="25400">
            <a:solidFill>
              <a:srgbClr val="415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0759" y="2560320"/>
            <a:ext cx="1" cy="685800"/>
          </a:xfrm>
          <a:prstGeom prst="line">
            <a:avLst/>
          </a:prstGeom>
          <a:ln w="25400">
            <a:solidFill>
              <a:srgbClr val="415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0760" y="2560320"/>
            <a:ext cx="3749040" cy="685800"/>
          </a:xfrm>
          <a:prstGeom prst="line">
            <a:avLst/>
          </a:prstGeom>
          <a:ln w="25400">
            <a:solidFill>
              <a:srgbClr val="415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577840" y="2971800"/>
            <a:ext cx="1005840" cy="10058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8" y="3255264"/>
            <a:ext cx="603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1605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2E8F0"/>
                </a:solidFill>
                <a:latin typeface="Aptos"/>
              </a:rPr>
              <a:t>Correlation + lead prioritization + explanations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3063240" cy="822960"/>
          </a:xfrm>
          <a:prstGeom prst="roundRect">
            <a:avLst/>
          </a:prstGeom>
          <a:solidFill>
            <a:srgbClr val="111F3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010912"/>
            <a:ext cx="2606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Prioritized
Leads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331720" y="4005072"/>
            <a:ext cx="3749040" cy="768096"/>
          </a:xfrm>
          <a:prstGeom prst="line">
            <a:avLst/>
          </a:prstGeom>
          <a:ln w="25400">
            <a:solidFill>
              <a:srgbClr val="415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0" y="4800600"/>
            <a:ext cx="3063240" cy="822960"/>
          </a:xfrm>
          <a:prstGeom prst="roundRect">
            <a:avLst/>
          </a:prstGeom>
          <a:solidFill>
            <a:srgbClr val="111F3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5010912"/>
            <a:ext cx="2606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Timeline /
Map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080759" y="4005072"/>
            <a:ext cx="1" cy="768096"/>
          </a:xfrm>
          <a:prstGeom prst="line">
            <a:avLst/>
          </a:prstGeom>
          <a:ln w="25400">
            <a:solidFill>
              <a:srgbClr val="415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321040" y="4800600"/>
            <a:ext cx="3063240" cy="822960"/>
          </a:xfrm>
          <a:prstGeom prst="roundRect">
            <a:avLst/>
          </a:prstGeom>
          <a:solidFill>
            <a:srgbClr val="111F3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5010912"/>
            <a:ext cx="2606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Reports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4005072"/>
            <a:ext cx="3749040" cy="768096"/>
          </a:xfrm>
          <a:prstGeom prst="line">
            <a:avLst/>
          </a:prstGeom>
          <a:ln w="25400">
            <a:solidFill>
              <a:srgbClr val="415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Website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Landing page → Login → Investigation workspace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5349240" cy="4251960"/>
          </a:xfrm>
          <a:prstGeom prst="roundRect">
            <a:avLst/>
          </a:prstGeom>
          <a:solidFill>
            <a:srgbClr val="111F37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TRACEAI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297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Turning Missing-Person
Information Into
Actionable Leads.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AI-assisted case coordination for investigators.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1508760" cy="43891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700016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8FAFC"/>
                </a:solidFill>
                <a:latin typeface="Aptos"/>
              </a:rPr>
              <a:t>START INVESTIGATION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1143000" cy="384048"/>
          </a:xfrm>
          <a:prstGeom prst="roundRect">
            <a:avLst/>
          </a:prstGeom>
          <a:solidFill>
            <a:srgbClr val="1E304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47672"/>
            <a:ext cx="6583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2D3EE"/>
                </a:solidFill>
                <a:latin typeface="Aptos"/>
              </a:rPr>
              <a:t>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0200"/>
            <a:ext cx="5212080" cy="4251960"/>
          </a:xfrm>
          <a:prstGeom prst="roundRect">
            <a:avLst/>
          </a:prstGeom>
          <a:solidFill>
            <a:srgbClr val="111F37"/>
          </a:solidFill>
          <a:ln>
            <a:solidFill>
              <a:srgbClr val="2F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01168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Welcome back, Investigator.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Officer ID / 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090672"/>
            <a:ext cx="4434840" cy="457200"/>
          </a:xfrm>
          <a:prstGeom prst="roundRect">
            <a:avLst/>
          </a:prstGeom>
          <a:solidFill>
            <a:srgbClr val="172946"/>
          </a:solidFill>
          <a:ln>
            <a:solidFill>
              <a:srgbClr val="3D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3227832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demo@nfsu.traceai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767328"/>
            <a:ext cx="3840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069080"/>
            <a:ext cx="4434840" cy="457200"/>
          </a:xfrm>
          <a:prstGeom prst="roundRect">
            <a:avLst/>
          </a:prstGeom>
          <a:solidFill>
            <a:srgbClr val="172946"/>
          </a:solidFill>
          <a:ln>
            <a:solidFill>
              <a:srgbClr val="3D5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420624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••••••••••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800600"/>
            <a:ext cx="4434840" cy="47548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937760"/>
            <a:ext cx="1051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Investigator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A single view of active cases, leads and recent activity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606040" cy="105156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ACTIVE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00200"/>
            <a:ext cx="2606040" cy="105156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HIGH-PRIORITY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F4444"/>
                </a:solidFill>
                <a:latin typeface="Aptos"/>
              </a:rPr>
              <a:t>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2606040" cy="105156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NEW SIGHTINGS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Aptos"/>
              </a:rPr>
              <a:t>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600200"/>
            <a:ext cx="2606040" cy="105156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783080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REVIEW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031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Aptos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26080"/>
            <a:ext cx="7406640" cy="269748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54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Recent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61188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Case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1188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Missing Person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611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11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Aptos"/>
              </a:rPr>
              <a:t>Priority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3913632"/>
            <a:ext cx="6949440" cy="0"/>
          </a:xfrm>
          <a:prstGeom prst="line">
            <a:avLst/>
          </a:prstGeom>
          <a:ln w="12700">
            <a:solidFill>
              <a:srgbClr val="263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11680" y="400507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MP-2026-001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00507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Rahul Sharma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005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00507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Aptos"/>
              </a:rPr>
              <a:t>HIGH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8680" y="4389120"/>
            <a:ext cx="6949440" cy="0"/>
          </a:xfrm>
          <a:prstGeom prst="line">
            <a:avLst/>
          </a:prstGeom>
          <a:ln w="12700">
            <a:solidFill>
              <a:srgbClr val="263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11680" y="4480560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MP-2026-002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48056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Aarav Mehta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8056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MEDIUM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" y="4864608"/>
            <a:ext cx="6949440" cy="0"/>
          </a:xfrm>
          <a:prstGeom prst="line">
            <a:avLst/>
          </a:prstGeom>
          <a:ln w="12700">
            <a:solidFill>
              <a:srgbClr val="263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495604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MP-2026-003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95604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Nisha Patel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4956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956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Aptos"/>
              </a:rPr>
              <a:t>HIGH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2926080"/>
            <a:ext cx="3291840" cy="269748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154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Quick 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49640" y="3611880"/>
            <a:ext cx="2697480" cy="347472"/>
          </a:xfrm>
          <a:prstGeom prst="roundRect">
            <a:avLst/>
          </a:prstGeom>
          <a:solidFill>
            <a:srgbClr val="17294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370332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＋ New case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49640" y="4069080"/>
            <a:ext cx="2697480" cy="347472"/>
          </a:xfrm>
          <a:prstGeom prst="roundRect">
            <a:avLst/>
          </a:prstGeom>
          <a:solidFill>
            <a:srgbClr val="172946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416052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▶ Load demo case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49640" y="4526280"/>
            <a:ext cx="2697480" cy="347472"/>
          </a:xfrm>
          <a:prstGeom prst="roundRect">
            <a:avLst/>
          </a:prstGeom>
          <a:solidFill>
            <a:srgbClr val="17294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461772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◈ Review leads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9640" y="4983480"/>
            <a:ext cx="2697480" cy="347472"/>
          </a:xfrm>
          <a:prstGeom prst="roundRect">
            <a:avLst/>
          </a:prstGeom>
          <a:solidFill>
            <a:srgbClr val="172946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5074920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C"/>
                </a:solidFill>
                <a:latin typeface="Aptos"/>
              </a:rPr>
              <a:t>▣ Generate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Case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Structured inputs keep the investigation traceable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2148840" cy="448056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691640" cy="329184"/>
          </a:xfrm>
          <a:prstGeom prst="roundRect">
            <a:avLst/>
          </a:prstGeom>
          <a:solidFill>
            <a:srgbClr val="111F37"/>
          </a:solidFill>
          <a:ln>
            <a:solidFill>
              <a:srgbClr val="11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11095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58568"/>
            <a:ext cx="1691640" cy="329184"/>
          </a:xfrm>
          <a:prstGeom prst="roundRect">
            <a:avLst/>
          </a:prstGeom>
          <a:solidFill>
            <a:srgbClr val="111F37"/>
          </a:solidFill>
          <a:ln>
            <a:solidFill>
              <a:srgbClr val="11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40863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Family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88336"/>
            <a:ext cx="1691640" cy="329184"/>
          </a:xfrm>
          <a:prstGeom prst="roundRect">
            <a:avLst/>
          </a:prstGeom>
          <a:solidFill>
            <a:srgbClr val="111F37"/>
          </a:solidFill>
          <a:ln>
            <a:solidFill>
              <a:srgbClr val="11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7063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Investigator Tips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18104"/>
            <a:ext cx="1691640" cy="329184"/>
          </a:xfrm>
          <a:prstGeom prst="roundRect">
            <a:avLst/>
          </a:prstGeom>
          <a:solidFill>
            <a:srgbClr val="111F37"/>
          </a:solidFill>
          <a:ln>
            <a:solidFill>
              <a:srgbClr val="11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00400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CCTV Sightings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47872"/>
            <a:ext cx="1691640" cy="3291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630168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  <a:latin typeface="Aptos"/>
              </a:rPr>
              <a:t>AI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77639"/>
            <a:ext cx="1691640" cy="329184"/>
          </a:xfrm>
          <a:prstGeom prst="roundRect">
            <a:avLst/>
          </a:prstGeom>
          <a:solidFill>
            <a:srgbClr val="111F37"/>
          </a:solidFill>
          <a:ln>
            <a:solidFill>
              <a:srgbClr val="11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059935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Leads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407408"/>
            <a:ext cx="1691640" cy="329184"/>
          </a:xfrm>
          <a:prstGeom prst="roundRect">
            <a:avLst/>
          </a:prstGeom>
          <a:solidFill>
            <a:srgbClr val="111F37"/>
          </a:solidFill>
          <a:ln>
            <a:solidFill>
              <a:srgbClr val="11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489704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Timeline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37176"/>
            <a:ext cx="1691640" cy="329184"/>
          </a:xfrm>
          <a:prstGeom prst="roundRect">
            <a:avLst/>
          </a:prstGeom>
          <a:solidFill>
            <a:srgbClr val="111F37"/>
          </a:solidFill>
          <a:ln>
            <a:solidFill>
              <a:srgbClr val="11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91947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266944"/>
            <a:ext cx="1691640" cy="329184"/>
          </a:xfrm>
          <a:prstGeom prst="roundRect">
            <a:avLst/>
          </a:prstGeom>
          <a:solidFill>
            <a:srgbClr val="111F37"/>
          </a:solidFill>
          <a:ln>
            <a:solidFill>
              <a:srgbClr val="111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5349240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8FAFC"/>
                </a:solidFill>
                <a:latin typeface="Aptos"/>
              </a:rPr>
              <a:t>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1600200"/>
            <a:ext cx="8503920" cy="448056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1874519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MP-2026-001 • Rahul Sharma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267712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Last seen: Surat Railway Station • 18:10 • Active case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2788920"/>
            <a:ext cx="2331720" cy="1417320"/>
          </a:xfrm>
          <a:prstGeom prst="roundRect">
            <a:avLst/>
          </a:prstGeom>
          <a:solidFill>
            <a:srgbClr val="17294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294436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Family 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3375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Blue shirt • black jeans
Known routine • last activity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2788920"/>
            <a:ext cx="2331720" cy="1417320"/>
          </a:xfrm>
          <a:prstGeom prst="roundRect">
            <a:avLst/>
          </a:prstGeom>
          <a:solidFill>
            <a:srgbClr val="17294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94436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Investigator 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3375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5 tips • 3 locations
Witness + field officer sources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2788920"/>
            <a:ext cx="2331720" cy="1417320"/>
          </a:xfrm>
          <a:prstGeom prst="roundRect">
            <a:avLst/>
          </a:prstGeom>
          <a:solidFill>
            <a:srgbClr val="17294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294436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CCTV sightings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33756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5 mock sightings
Camera, time, description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4526280"/>
            <a:ext cx="7726679" cy="59436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4718304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ANALYZE CASE WITH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AI Correlation &amp; Lead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The core intelligence layer of TRACEAI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463040" y="1600200"/>
            <a:ext cx="640080" cy="6400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Age /
Profile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1920240"/>
            <a:ext cx="1280160" cy="0"/>
          </a:xfrm>
          <a:prstGeom prst="line">
            <a:avLst/>
          </a:prstGeom>
          <a:ln w="25400">
            <a:solidFill>
              <a:srgbClr val="465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251959" y="1600200"/>
            <a:ext cx="640080" cy="64008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3317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Clothing /
Description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83479" y="1920240"/>
            <a:ext cx="1280161" cy="0"/>
          </a:xfrm>
          <a:prstGeom prst="line">
            <a:avLst/>
          </a:prstGeom>
          <a:ln w="25400">
            <a:solidFill>
              <a:srgbClr val="465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040879" y="1600200"/>
            <a:ext cx="640080" cy="64008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Time /
Sequence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0" y="1920240"/>
            <a:ext cx="1280159" cy="0"/>
          </a:xfrm>
          <a:prstGeom prst="line">
            <a:avLst/>
          </a:prstGeom>
          <a:ln w="25400">
            <a:solidFill>
              <a:srgbClr val="465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829799" y="1600200"/>
            <a:ext cx="640080" cy="6400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23317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Location /
Proximity</a:t>
            </a:r>
          </a:p>
        </p:txBody>
      </p:sp>
      <p:sp>
        <p:nvSpPr>
          <p:cNvPr id="16" name="Oval 15"/>
          <p:cNvSpPr/>
          <p:nvPr/>
        </p:nvSpPr>
        <p:spPr>
          <a:xfrm>
            <a:off x="5440680" y="3063240"/>
            <a:ext cx="1051560" cy="105156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33288" y="340156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34840"/>
            <a:ext cx="10698480" cy="114300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6634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LEAD #001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59943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Potential sighting near railway station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5994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Apto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59943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0.87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956048"/>
            <a:ext cx="7040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Why: clothing match • age compatibility • time compatibility • location compatibility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064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AI output is a lead for investigator review — not proof of identity.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Investigation Timeline &amp;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See how sightings and tips relate across time and location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600200"/>
            <a:ext cx="5212080" cy="438912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CASE TIMELINE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423160"/>
            <a:ext cx="228600" cy="2286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28700" y="2651760"/>
            <a:ext cx="0" cy="521208"/>
          </a:xfrm>
          <a:prstGeom prst="line">
            <a:avLst/>
          </a:prstGeom>
          <a:ln w="25400">
            <a:solidFill>
              <a:srgbClr val="465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25880" y="24048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18:10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35915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Last confirmed sighting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624328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Railway Station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72968"/>
            <a:ext cx="228600" cy="2286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28700" y="3401568"/>
            <a:ext cx="0" cy="521208"/>
          </a:xfrm>
          <a:prstGeom prst="line">
            <a:avLst/>
          </a:prstGeom>
          <a:ln w="25400">
            <a:solidFill>
              <a:srgbClr val="465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25880" y="3154679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18:42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10896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CCTV sighting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374136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Station Exit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22776"/>
            <a:ext cx="228600" cy="2286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28700" y="4151376"/>
            <a:ext cx="0" cy="521208"/>
          </a:xfrm>
          <a:prstGeom prst="line">
            <a:avLst/>
          </a:prstGeom>
          <a:ln w="25400">
            <a:solidFill>
              <a:srgbClr val="465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25880" y="390448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18:55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858768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Witness tip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123944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Adajan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672583"/>
            <a:ext cx="228600" cy="22860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54296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2C55E"/>
                </a:solidFill>
                <a:latin typeface="Aptos"/>
              </a:rPr>
              <a:t>19:20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608575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Possible sighting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873751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Bus Terminal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600200"/>
            <a:ext cx="5440680" cy="438912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74519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INVESTIGATION MAP • MOCK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331720"/>
            <a:ext cx="4892040" cy="3154680"/>
          </a:xfrm>
          <a:prstGeom prst="roundRect">
            <a:avLst/>
          </a:prstGeom>
          <a:solidFill>
            <a:srgbClr val="0C1D32"/>
          </a:solidFill>
          <a:ln>
            <a:solidFill>
              <a:srgbClr val="233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6720840" y="2651760"/>
            <a:ext cx="4206240" cy="2423160"/>
          </a:xfrm>
          <a:prstGeom prst="line">
            <a:avLst/>
          </a:prstGeom>
          <a:ln w="38100">
            <a:solidFill>
              <a:srgbClr val="415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29400" y="2788920"/>
            <a:ext cx="4206240" cy="2286000"/>
          </a:xfrm>
          <a:prstGeom prst="line">
            <a:avLst/>
          </a:prstGeom>
          <a:ln w="38100">
            <a:solidFill>
              <a:srgbClr val="415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06640" y="2468880"/>
            <a:ext cx="822960" cy="2834640"/>
          </a:xfrm>
          <a:prstGeom prst="line">
            <a:avLst/>
          </a:prstGeom>
          <a:ln w="25400">
            <a:solidFill>
              <a:srgbClr val="374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315200" y="4343400"/>
            <a:ext cx="228600" cy="22860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07808" y="431596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8FAFC"/>
                </a:solidFill>
                <a:latin typeface="Aptos"/>
              </a:rPr>
              <a:t>Last seen</a:t>
            </a:r>
          </a:p>
        </p:txBody>
      </p:sp>
      <p:sp>
        <p:nvSpPr>
          <p:cNvPr id="34" name="Oval 33"/>
          <p:cNvSpPr/>
          <p:nvPr/>
        </p:nvSpPr>
        <p:spPr>
          <a:xfrm>
            <a:off x="8458200" y="3246120"/>
            <a:ext cx="228600" cy="2286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0808" y="321868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8FAFC"/>
                </a:solidFill>
                <a:latin typeface="Aptos"/>
              </a:rPr>
              <a:t>CCTV</a:t>
            </a:r>
          </a:p>
        </p:txBody>
      </p:sp>
      <p:sp>
        <p:nvSpPr>
          <p:cNvPr id="36" name="Oval 35"/>
          <p:cNvSpPr/>
          <p:nvPr/>
        </p:nvSpPr>
        <p:spPr>
          <a:xfrm>
            <a:off x="9692640" y="4160520"/>
            <a:ext cx="228600" cy="22860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85248" y="4133087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8FAFC"/>
                </a:solidFill>
                <a:latin typeface="Aptos"/>
              </a:rPr>
              <a:t>Tip</a:t>
            </a:r>
          </a:p>
        </p:txBody>
      </p:sp>
      <p:sp>
        <p:nvSpPr>
          <p:cNvPr id="38" name="Oval 37"/>
          <p:cNvSpPr/>
          <p:nvPr/>
        </p:nvSpPr>
        <p:spPr>
          <a:xfrm>
            <a:off x="10149840" y="2834640"/>
            <a:ext cx="228600" cy="22860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42448" y="280720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8FAFC"/>
                </a:solidFill>
                <a:latin typeface="Aptos"/>
              </a:rPr>
              <a:t>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Reports &amp; Public Appeal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Turn structured investigation data into reviewable documents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645920"/>
            <a:ext cx="5257800" cy="4251960"/>
          </a:xfrm>
          <a:prstGeom prst="roundRect">
            <a:avLst/>
          </a:prstGeom>
          <a:solidFill>
            <a:srgbClr val="111F37"/>
          </a:solidFill>
          <a:ln>
            <a:solidFill>
              <a:srgbClr val="25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54864" cy="4251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Public Appeal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487375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Auto-populates a reviewable notice from case information: photo, name, age, last-seen details, clothing, identifying features and contact information.
Actions: Generate • Preview • Print • Download PDF
Review all information before public release.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57800" cy="4251960"/>
          </a:xfrm>
          <a:prstGeom prst="roundRect">
            <a:avLst/>
          </a:prstGeom>
          <a:solidFill>
            <a:srgbClr val="111F37"/>
          </a:solidFill>
          <a:ln>
            <a:solidFill>
              <a:srgbClr val="25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4864" cy="425196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10512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Police Case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176272"/>
            <a:ext cx="487375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Combines person details, family information, sightings, timeline, AI-correlated leads, recommended actions and investigator notes into a structured case-file draft.
Footer: AI-assisted draft — requires investigator verification before official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How the website components communicate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828800"/>
            <a:ext cx="2286000" cy="914400"/>
          </a:xfrm>
          <a:prstGeom prst="roundRect">
            <a:avLst/>
          </a:prstGeom>
          <a:solidFill>
            <a:srgbClr val="111F3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React + Vite
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828800"/>
            <a:ext cx="2286000" cy="914400"/>
          </a:xfrm>
          <a:prstGeom prst="roundRect">
            <a:avLst/>
          </a:prstGeom>
          <a:solidFill>
            <a:srgbClr val="111F37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205740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FastAPI
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828800"/>
            <a:ext cx="2286000" cy="914400"/>
          </a:xfrm>
          <a:prstGeom prst="roundRect">
            <a:avLst/>
          </a:prstGeom>
          <a:solidFill>
            <a:srgbClr val="111F37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205740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SQLite
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828800"/>
            <a:ext cx="1737360" cy="914400"/>
          </a:xfrm>
          <a:prstGeom prst="roundRect">
            <a:avLst/>
          </a:prstGeom>
          <a:solidFill>
            <a:srgbClr val="111F3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205740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AI
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71800" y="2286000"/>
            <a:ext cx="731520" cy="0"/>
          </a:xfrm>
          <a:prstGeom prst="line">
            <a:avLst/>
          </a:prstGeom>
          <a:ln w="254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2286000"/>
            <a:ext cx="731520" cy="0"/>
          </a:xfrm>
          <a:prstGeom prst="line">
            <a:avLst/>
          </a:prstGeom>
          <a:ln w="254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06840" y="2286000"/>
            <a:ext cx="731520" cy="0"/>
          </a:xfrm>
          <a:prstGeom prst="line">
            <a:avLst/>
          </a:prstGeom>
          <a:ln w="25400">
            <a:solidFill>
              <a:srgbClr val="F8FA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71800" y="27889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HTTP / REST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88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Case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7889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Analysis request /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2514600" cy="141732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93192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31596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Login + protected routes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3703320"/>
            <a:ext cx="2514600" cy="141732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2" y="393192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Case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431596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Cases • tips • sightings • leads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703320"/>
            <a:ext cx="2514600" cy="141732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93192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tos"/>
              </a:rPr>
              <a:t>AI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31596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Correlation • scoring • recommendations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3703320"/>
            <a:ext cx="2514600" cy="141732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54312" y="393192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ptos"/>
              </a:rPr>
              <a:t>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431596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Aptos"/>
              </a:rPr>
              <a:t>Public appeal • case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2356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Local prototype architecture • mock data • modular AI provider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IBM Bob in the Development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How Bob supports planning, implementation and testing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783080" y="1645920"/>
            <a:ext cx="777240" cy="77724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Aptos"/>
              </a:rPr>
              <a:t>Architecture + feature planning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2039112"/>
            <a:ext cx="1005839" cy="0"/>
          </a:xfrm>
          <a:prstGeom prst="line">
            <a:avLst/>
          </a:prstGeom>
          <a:ln w="25400">
            <a:solidFill>
              <a:srgbClr val="465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532119" y="1645920"/>
            <a:ext cx="777240" cy="77724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260604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06324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Aptos"/>
              </a:rPr>
              <a:t>Code implementation + edits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23759" y="2039112"/>
            <a:ext cx="1005841" cy="0"/>
          </a:xfrm>
          <a:prstGeom prst="line">
            <a:avLst/>
          </a:prstGeom>
          <a:ln w="25400">
            <a:solidFill>
              <a:srgbClr val="465B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281159" y="1645920"/>
            <a:ext cx="777240" cy="77724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199" y="260604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06324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Aptos"/>
              </a:rPr>
              <a:t>Understand code + troubleshoot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069080"/>
            <a:ext cx="10149840" cy="1005840"/>
          </a:xfrm>
          <a:prstGeom prst="roundRect">
            <a:avLst/>
          </a:prstGeom>
          <a:solidFill>
            <a:srgbClr val="111F37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3708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Specific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3525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37083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3525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37083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tos"/>
              </a:rPr>
              <a:t>Implement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3525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37083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Aptos"/>
              </a:rPr>
              <a:t>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3525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37083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Debug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43525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370832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Aptos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35254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37083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Working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5778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Bob's documented capabilities include planning/implementing features, code review, terminal work and MCP integrations.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Demo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A simple story judges can follow in under 3 minutes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55648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1848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8424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Enter the investigator workspace.</a:t>
            </a:r>
          </a:p>
        </p:txBody>
      </p:sp>
      <p:sp>
        <p:nvSpPr>
          <p:cNvPr id="9" name="Oval 8"/>
          <p:cNvSpPr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55648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61848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Load demo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98424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Open MP-2026-001 with mock data.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081528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4436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1012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Run AI correlation across family, tips and CCTV.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926080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081528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4436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Review leads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31012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Inspect priority, confidence and rationale.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407408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7024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Follow the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3600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Use timeline and map to understand the case.</a:t>
            </a:r>
          </a:p>
        </p:txBody>
      </p:sp>
      <p:sp>
        <p:nvSpPr>
          <p:cNvPr id="25" name="Oval 24"/>
          <p:cNvSpPr/>
          <p:nvPr/>
        </p:nvSpPr>
        <p:spPr>
          <a:xfrm>
            <a:off x="6355080" y="4251960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407408"/>
            <a:ext cx="274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27024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Generate 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63600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Create public appeal and case-file draft.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5532120"/>
            <a:ext cx="9601200" cy="457200"/>
          </a:xfrm>
          <a:prstGeom prst="roundRect">
            <a:avLst/>
          </a:prstGeom>
          <a:solidFill>
            <a:srgbClr val="172946"/>
          </a:solidFill>
          <a:ln>
            <a:solidFill>
              <a:srgbClr val="2D41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660136"/>
            <a:ext cx="8503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2D3EE"/>
                </a:solidFill>
                <a:latin typeface="Aptos"/>
              </a:rPr>
              <a:t>Demo principle: show the complete workflow, not isolated screens.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Safety, Privacy &amp; Human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Designed as investigation support — not automated identification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353312"/>
            <a:ext cx="10899648" cy="0"/>
          </a:xfrm>
          <a:prstGeom prst="line">
            <a:avLst/>
          </a:prstGeom>
          <a:ln w="12700">
            <a:solidFill>
              <a:srgbClr val="2B3D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645920"/>
            <a:ext cx="5212080" cy="1600200"/>
          </a:xfrm>
          <a:prstGeom prst="roundRect">
            <a:avLst/>
          </a:prstGeom>
          <a:solidFill>
            <a:srgbClr val="111F37"/>
          </a:solidFill>
          <a:ln>
            <a:solidFill>
              <a:srgbClr val="25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54864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4828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Mock / demo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4828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2E8F0"/>
                </a:solidFill>
                <a:latin typeface="Aptos"/>
              </a:rPr>
              <a:t>The prototype uses fictional case information and mock CCTV descriptions.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12080" cy="1600200"/>
          </a:xfrm>
          <a:prstGeom prst="roundRect">
            <a:avLst/>
          </a:prstGeom>
          <a:solidFill>
            <a:srgbClr val="111F37"/>
          </a:solidFill>
          <a:ln>
            <a:solidFill>
              <a:srgbClr val="25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4864" cy="16002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10512"/>
            <a:ext cx="4828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Explainable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176272"/>
            <a:ext cx="4828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2E8F0"/>
                </a:solidFill>
                <a:latin typeface="Aptos"/>
              </a:rPr>
              <a:t>Each lead shows the factors that contributed to prioritization.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5212080" cy="1600200"/>
          </a:xfrm>
          <a:prstGeom prst="roundRect">
            <a:avLst/>
          </a:prstGeom>
          <a:solidFill>
            <a:srgbClr val="111F37"/>
          </a:solidFill>
          <a:ln>
            <a:solidFill>
              <a:srgbClr val="25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03320"/>
            <a:ext cx="54864" cy="1600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67911"/>
            <a:ext cx="4828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Human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33672"/>
            <a:ext cx="4828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2E8F0"/>
                </a:solidFill>
                <a:latin typeface="Aptos"/>
              </a:rPr>
              <a:t>AI leads are recommendations and require investigator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03320"/>
            <a:ext cx="5212080" cy="1600200"/>
          </a:xfrm>
          <a:prstGeom prst="roundRect">
            <a:avLst/>
          </a:prstGeom>
          <a:solidFill>
            <a:srgbClr val="111F37"/>
          </a:solidFill>
          <a:ln>
            <a:solidFill>
              <a:srgbClr val="253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54864" cy="16002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867911"/>
            <a:ext cx="48280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No live surveillance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233672"/>
            <a:ext cx="4828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2E8F0"/>
                </a:solidFill>
                <a:latin typeface="Aptos"/>
              </a:rPr>
              <a:t>The prototype does not claim access to real CCTV or restricted databases.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ptos"/>
              </a:rPr>
              <a:t>These guardrails make the prototype clearer, more transparent and appropriate for a hackathon demonstration.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3657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TRACEAI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7132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2E8F0"/>
                </a:solidFill>
                <a:latin typeface="Aptos"/>
              </a:rPr>
              <a:t>From scattered information
to structured investigative leads.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246120"/>
            <a:ext cx="2057400" cy="47548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3374136"/>
            <a:ext cx="1691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IBM BOB × NFSU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06908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Aptos"/>
              </a:rPr>
              <a:t>Problem Statement 07 • Missing Person Investigation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9377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440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Questions &amp;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6126480"/>
            <a:ext cx="9875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Source basis: IBM Bob × NFSU Hackathon Problem Statements (PS 07) and IBM Bob Getting Started Guide.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8961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Aptos"/>
              </a:rPr>
              <a:t>TRACEAI • IBM Bob × NFSU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94A3B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